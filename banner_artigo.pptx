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323992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6">
          <p15:clr>
            <a:srgbClr val="A4A3A4"/>
          </p15:clr>
        </p15:guide>
        <p15:guide id="2" pos="10182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eXXMYnRBTtdwu/LCLnWBnDmdc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6" orient="horz"/>
        <p:guide pos="1018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/>
          <p:nvPr>
            <p:ph idx="2" type="sldImg"/>
          </p:nvPr>
        </p:nvSpPr>
        <p:spPr>
          <a:xfrm>
            <a:off x="2143125" y="685800"/>
            <a:ext cx="2571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2429946" y="39361183"/>
            <a:ext cx="6749852" cy="2880043"/>
          </a:xfrm>
          <a:prstGeom prst="rect">
            <a:avLst/>
          </a:prstGeom>
          <a:noFill/>
          <a:ln>
            <a:noFill/>
          </a:ln>
        </p:spPr>
        <p:txBody>
          <a:bodyPr anchorCtr="0" anchor="t" bIns="206825" lIns="413650" spcFirstLastPara="1" rIns="413650" wrap="square" tIns="2068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1069757" y="39361183"/>
            <a:ext cx="10259775" cy="2880043"/>
          </a:xfrm>
          <a:prstGeom prst="rect">
            <a:avLst/>
          </a:prstGeom>
          <a:noFill/>
          <a:ln>
            <a:noFill/>
          </a:ln>
        </p:spPr>
        <p:txBody>
          <a:bodyPr anchorCtr="0" anchor="t" bIns="206825" lIns="413650" spcFirstLastPara="1" rIns="413650" wrap="square" tIns="2068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3219490" y="39361183"/>
            <a:ext cx="6749852" cy="2880043"/>
          </a:xfrm>
          <a:prstGeom prst="rect">
            <a:avLst/>
          </a:prstGeom>
          <a:noFill/>
          <a:ln>
            <a:noFill/>
          </a:ln>
        </p:spPr>
        <p:txBody>
          <a:bodyPr anchorCtr="0" anchor="t" bIns="206825" lIns="413650" spcFirstLastPara="1" rIns="413650" wrap="square" tIns="206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-8234" y="8950"/>
            <a:ext cx="32407523" cy="3858539"/>
            <a:chOff x="-8234" y="8950"/>
            <a:chExt cx="32407523" cy="3858539"/>
          </a:xfrm>
        </p:grpSpPr>
        <p:grpSp>
          <p:nvGrpSpPr>
            <p:cNvPr id="22" name="Google Shape;22;p3"/>
            <p:cNvGrpSpPr/>
            <p:nvPr/>
          </p:nvGrpSpPr>
          <p:grpSpPr>
            <a:xfrm>
              <a:off x="-8234" y="8950"/>
              <a:ext cx="32407523" cy="3858539"/>
              <a:chOff x="-8234" y="8950"/>
              <a:chExt cx="32407523" cy="3858539"/>
            </a:xfrm>
          </p:grpSpPr>
          <p:sp>
            <p:nvSpPr>
              <p:cNvPr id="23" name="Google Shape;23;p3"/>
              <p:cNvSpPr/>
              <p:nvPr/>
            </p:nvSpPr>
            <p:spPr>
              <a:xfrm>
                <a:off x="-8234" y="8950"/>
                <a:ext cx="32407523" cy="3858539"/>
              </a:xfrm>
              <a:custGeom>
                <a:rect b="b" l="l" r="r" t="t"/>
                <a:pathLst>
                  <a:path extrusionOk="0" h="1186" w="10246">
                    <a:moveTo>
                      <a:pt x="0" y="398"/>
                    </a:moveTo>
                    <a:lnTo>
                      <a:pt x="6507" y="398"/>
                    </a:lnTo>
                    <a:lnTo>
                      <a:pt x="6059" y="401"/>
                    </a:lnTo>
                    <a:lnTo>
                      <a:pt x="5855" y="406"/>
                    </a:lnTo>
                    <a:lnTo>
                      <a:pt x="5647" y="416"/>
                    </a:lnTo>
                    <a:lnTo>
                      <a:pt x="5131" y="450"/>
                    </a:lnTo>
                    <a:lnTo>
                      <a:pt x="4730" y="484"/>
                    </a:lnTo>
                    <a:lnTo>
                      <a:pt x="4333" y="525"/>
                    </a:lnTo>
                    <a:lnTo>
                      <a:pt x="4016" y="564"/>
                    </a:lnTo>
                    <a:lnTo>
                      <a:pt x="3700" y="608"/>
                    </a:lnTo>
                    <a:lnTo>
                      <a:pt x="3384" y="656"/>
                    </a:lnTo>
                    <a:lnTo>
                      <a:pt x="2986" y="725"/>
                    </a:lnTo>
                    <a:lnTo>
                      <a:pt x="2583" y="802"/>
                    </a:lnTo>
                    <a:lnTo>
                      <a:pt x="1820" y="963"/>
                    </a:lnTo>
                    <a:lnTo>
                      <a:pt x="1476" y="1028"/>
                    </a:lnTo>
                    <a:lnTo>
                      <a:pt x="1228" y="1071"/>
                    </a:lnTo>
                    <a:lnTo>
                      <a:pt x="990" y="1108"/>
                    </a:lnTo>
                    <a:lnTo>
                      <a:pt x="766" y="1139"/>
                    </a:lnTo>
                    <a:lnTo>
                      <a:pt x="625" y="1156"/>
                    </a:lnTo>
                    <a:lnTo>
                      <a:pt x="490" y="1171"/>
                    </a:lnTo>
                    <a:lnTo>
                      <a:pt x="364" y="1182"/>
                    </a:lnTo>
                    <a:lnTo>
                      <a:pt x="295" y="1185"/>
                    </a:lnTo>
                    <a:lnTo>
                      <a:pt x="210" y="1186"/>
                    </a:lnTo>
                    <a:lnTo>
                      <a:pt x="121" y="1185"/>
                    </a:lnTo>
                    <a:lnTo>
                      <a:pt x="43" y="1182"/>
                    </a:lnTo>
                    <a:lnTo>
                      <a:pt x="0" y="1178"/>
                    </a:lnTo>
                    <a:lnTo>
                      <a:pt x="0" y="398"/>
                    </a:lnTo>
                    <a:close/>
                    <a:moveTo>
                      <a:pt x="0" y="0"/>
                    </a:moveTo>
                    <a:lnTo>
                      <a:pt x="10245" y="0"/>
                    </a:lnTo>
                    <a:lnTo>
                      <a:pt x="10245" y="675"/>
                    </a:lnTo>
                    <a:lnTo>
                      <a:pt x="10227" y="675"/>
                    </a:lnTo>
                    <a:lnTo>
                      <a:pt x="10216" y="675"/>
                    </a:lnTo>
                    <a:lnTo>
                      <a:pt x="8014" y="460"/>
                    </a:lnTo>
                    <a:lnTo>
                      <a:pt x="7703" y="435"/>
                    </a:lnTo>
                    <a:lnTo>
                      <a:pt x="7494" y="421"/>
                    </a:lnTo>
                    <a:lnTo>
                      <a:pt x="7294" y="411"/>
                    </a:lnTo>
                    <a:lnTo>
                      <a:pt x="7096" y="404"/>
                    </a:lnTo>
                    <a:lnTo>
                      <a:pt x="6745" y="399"/>
                    </a:lnTo>
                    <a:lnTo>
                      <a:pt x="0" y="39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3175" lIns="86375" spcFirstLastPara="1" rIns="86375" wrap="square" tIns="43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43"/>
                  <a:buFont typeface="Arial"/>
                  <a:buNone/>
                </a:pPr>
                <a:r>
                  <a:t/>
                </a:r>
                <a:endParaRPr b="0" i="0" sz="21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pic>
            <p:nvPicPr>
              <p:cNvPr descr="Texto&#10;&#10;Descrição gerada automaticamente" id="24" name="Google Shape;24;p3"/>
              <p:cNvPicPr preferRelativeResize="0"/>
              <p:nvPr/>
            </p:nvPicPr>
            <p:blipFill rotWithShape="1">
              <a:blip r:embed="rId3">
                <a:alphaModFix/>
              </a:blip>
              <a:srcRect b="13116" l="9420" r="4844" t="9525"/>
              <a:stretch/>
            </p:blipFill>
            <p:spPr>
              <a:xfrm>
                <a:off x="69852" y="80957"/>
                <a:ext cx="5400600" cy="344630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Nova marca PIT SJC - Parque de Inovação Tecnológica São José dos Campos" id="25" name="Google Shape;2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744753" y="458820"/>
              <a:ext cx="7229797" cy="32862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3"/>
          <p:cNvSpPr/>
          <p:nvPr/>
        </p:nvSpPr>
        <p:spPr>
          <a:xfrm flipH="1" rot="10800000">
            <a:off x="-8584" y="42225052"/>
            <a:ext cx="32407522" cy="975286"/>
          </a:xfrm>
          <a:custGeom>
            <a:rect b="b" l="l" r="r" t="t"/>
            <a:pathLst>
              <a:path extrusionOk="0" h="1186" w="10246">
                <a:moveTo>
                  <a:pt x="0" y="398"/>
                </a:moveTo>
                <a:lnTo>
                  <a:pt x="6507" y="398"/>
                </a:lnTo>
                <a:lnTo>
                  <a:pt x="6059" y="401"/>
                </a:lnTo>
                <a:lnTo>
                  <a:pt x="5855" y="406"/>
                </a:lnTo>
                <a:lnTo>
                  <a:pt x="5647" y="416"/>
                </a:lnTo>
                <a:lnTo>
                  <a:pt x="5131" y="450"/>
                </a:lnTo>
                <a:lnTo>
                  <a:pt x="4730" y="484"/>
                </a:lnTo>
                <a:lnTo>
                  <a:pt x="4333" y="525"/>
                </a:lnTo>
                <a:lnTo>
                  <a:pt x="4016" y="564"/>
                </a:lnTo>
                <a:lnTo>
                  <a:pt x="3700" y="608"/>
                </a:lnTo>
                <a:lnTo>
                  <a:pt x="3384" y="656"/>
                </a:lnTo>
                <a:lnTo>
                  <a:pt x="2986" y="725"/>
                </a:lnTo>
                <a:lnTo>
                  <a:pt x="2583" y="802"/>
                </a:lnTo>
                <a:lnTo>
                  <a:pt x="1820" y="963"/>
                </a:lnTo>
                <a:lnTo>
                  <a:pt x="1476" y="1028"/>
                </a:lnTo>
                <a:lnTo>
                  <a:pt x="1228" y="1071"/>
                </a:lnTo>
                <a:lnTo>
                  <a:pt x="990" y="1108"/>
                </a:lnTo>
                <a:lnTo>
                  <a:pt x="766" y="1139"/>
                </a:lnTo>
                <a:lnTo>
                  <a:pt x="625" y="1156"/>
                </a:lnTo>
                <a:lnTo>
                  <a:pt x="490" y="1171"/>
                </a:lnTo>
                <a:lnTo>
                  <a:pt x="364" y="1182"/>
                </a:lnTo>
                <a:lnTo>
                  <a:pt x="295" y="1185"/>
                </a:lnTo>
                <a:lnTo>
                  <a:pt x="210" y="1186"/>
                </a:lnTo>
                <a:lnTo>
                  <a:pt x="121" y="1185"/>
                </a:lnTo>
                <a:lnTo>
                  <a:pt x="43" y="1182"/>
                </a:lnTo>
                <a:lnTo>
                  <a:pt x="0" y="1178"/>
                </a:lnTo>
                <a:lnTo>
                  <a:pt x="0" y="398"/>
                </a:lnTo>
                <a:close/>
                <a:moveTo>
                  <a:pt x="0" y="0"/>
                </a:moveTo>
                <a:lnTo>
                  <a:pt x="10245" y="0"/>
                </a:lnTo>
                <a:lnTo>
                  <a:pt x="10245" y="675"/>
                </a:lnTo>
                <a:lnTo>
                  <a:pt x="10227" y="675"/>
                </a:lnTo>
                <a:lnTo>
                  <a:pt x="10216" y="675"/>
                </a:lnTo>
                <a:lnTo>
                  <a:pt x="8014" y="460"/>
                </a:lnTo>
                <a:lnTo>
                  <a:pt x="7703" y="435"/>
                </a:lnTo>
                <a:lnTo>
                  <a:pt x="7494" y="421"/>
                </a:lnTo>
                <a:lnTo>
                  <a:pt x="7294" y="411"/>
                </a:lnTo>
                <a:lnTo>
                  <a:pt x="7096" y="404"/>
                </a:lnTo>
                <a:lnTo>
                  <a:pt x="6745" y="399"/>
                </a:lnTo>
                <a:lnTo>
                  <a:pt x="0" y="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3175" lIns="86375" spcFirstLastPara="1" rIns="86375" wrap="square" tIns="4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3"/>
              <a:buFont typeface="Arial"/>
              <a:buNone/>
            </a:pPr>
            <a:r>
              <a:t/>
            </a:r>
            <a:endParaRPr b="0" i="0" sz="214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429947" y="3839457"/>
            <a:ext cx="27539395" cy="720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206825" lIns="413650" spcFirstLastPara="1" rIns="413650" wrap="square" tIns="2068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04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04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04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04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04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04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04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04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804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429947" y="12479586"/>
            <a:ext cx="27539395" cy="25920383"/>
          </a:xfrm>
          <a:prstGeom prst="rect">
            <a:avLst/>
          </a:prstGeom>
          <a:noFill/>
          <a:ln>
            <a:noFill/>
          </a:ln>
        </p:spPr>
        <p:txBody>
          <a:bodyPr anchorCtr="0" anchor="t" bIns="206825" lIns="413650" spcFirstLastPara="1" rIns="413650" wrap="square" tIns="206825">
            <a:noAutofit/>
          </a:bodyPr>
          <a:lstStyle>
            <a:lvl1pPr indent="-1098614" lvl="0" marL="457200" marR="0" rtl="0" algn="l">
              <a:lnSpc>
                <a:spcPct val="100000"/>
              </a:lnSpc>
              <a:spcBef>
                <a:spcPts val="2740"/>
              </a:spcBef>
              <a:spcAft>
                <a:spcPts val="0"/>
              </a:spcAft>
              <a:buClr>
                <a:schemeClr val="dk1"/>
              </a:buClr>
              <a:buSzPts val="13701"/>
              <a:buFont typeface="Times New Roman"/>
              <a:buChar char="•"/>
              <a:defRPr b="0" i="0" sz="13701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990600" lvl="1" marL="91440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Times New Roman"/>
              <a:buChar char="–"/>
              <a:defRPr b="0" i="0" sz="1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82586" lvl="2" marL="1371600" marR="0" rtl="0" algn="l">
              <a:lnSpc>
                <a:spcPct val="100000"/>
              </a:lnSpc>
              <a:spcBef>
                <a:spcPts val="2060"/>
              </a:spcBef>
              <a:spcAft>
                <a:spcPts val="0"/>
              </a:spcAft>
              <a:buClr>
                <a:schemeClr val="dk1"/>
              </a:buClr>
              <a:buSzPts val="10299"/>
              <a:buFont typeface="Times New Roman"/>
              <a:buChar char="•"/>
              <a:defRPr b="0" i="0" sz="1029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68604" lvl="3" marL="1828800" marR="0" rtl="0" algn="l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>
                <a:schemeClr val="dk1"/>
              </a:buClr>
              <a:buSzPts val="8504"/>
              <a:buFont typeface="Times New Roman"/>
              <a:buChar char="–"/>
              <a:defRPr b="0" i="0" sz="850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68604" lvl="4" marL="2286000" marR="0" rtl="0" algn="l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>
                <a:schemeClr val="dk1"/>
              </a:buClr>
              <a:buSzPts val="8504"/>
              <a:buFont typeface="Times New Roman"/>
              <a:buChar char="»"/>
              <a:defRPr b="0" i="0" sz="850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68604" lvl="5" marL="2743200" marR="0" rtl="0" algn="l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>
                <a:schemeClr val="dk1"/>
              </a:buClr>
              <a:buSzPts val="8504"/>
              <a:buFont typeface="Times New Roman"/>
              <a:buChar char="»"/>
              <a:defRPr b="0" i="0" sz="850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68604" lvl="6" marL="3200400" marR="0" rtl="0" algn="l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>
                <a:schemeClr val="dk1"/>
              </a:buClr>
              <a:buSzPts val="8504"/>
              <a:buFont typeface="Times New Roman"/>
              <a:buChar char="»"/>
              <a:defRPr b="0" i="0" sz="850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68604" lvl="7" marL="3657600" marR="0" rtl="0" algn="l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>
                <a:schemeClr val="dk1"/>
              </a:buClr>
              <a:buSzPts val="8504"/>
              <a:buFont typeface="Times New Roman"/>
              <a:buChar char="»"/>
              <a:defRPr b="0" i="0" sz="850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68604" lvl="8" marL="4114800" marR="0" rtl="0" algn="l">
              <a:lnSpc>
                <a:spcPct val="100000"/>
              </a:lnSpc>
              <a:spcBef>
                <a:spcPts val="1701"/>
              </a:spcBef>
              <a:spcAft>
                <a:spcPts val="0"/>
              </a:spcAft>
              <a:buClr>
                <a:schemeClr val="dk1"/>
              </a:buClr>
              <a:buSzPts val="8504"/>
              <a:buFont typeface="Times New Roman"/>
              <a:buChar char="»"/>
              <a:defRPr b="0" i="0" sz="850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2429946" y="39361183"/>
            <a:ext cx="6749852" cy="2880043"/>
          </a:xfrm>
          <a:prstGeom prst="rect">
            <a:avLst/>
          </a:prstGeom>
          <a:noFill/>
          <a:ln>
            <a:noFill/>
          </a:ln>
        </p:spPr>
        <p:txBody>
          <a:bodyPr anchorCtr="0" anchor="t" bIns="206825" lIns="413650" spcFirstLastPara="1" rIns="413650" wrap="square" tIns="2068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1069757" y="39361183"/>
            <a:ext cx="10259775" cy="2880043"/>
          </a:xfrm>
          <a:prstGeom prst="rect">
            <a:avLst/>
          </a:prstGeom>
          <a:noFill/>
          <a:ln>
            <a:noFill/>
          </a:ln>
        </p:spPr>
        <p:txBody>
          <a:bodyPr anchorCtr="0" anchor="t" bIns="206825" lIns="413650" spcFirstLastPara="1" rIns="413650" wrap="square" tIns="2068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68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19490" y="39361183"/>
            <a:ext cx="6749852" cy="2880043"/>
          </a:xfrm>
          <a:prstGeom prst="rect">
            <a:avLst/>
          </a:prstGeom>
          <a:noFill/>
          <a:ln>
            <a:noFill/>
          </a:ln>
        </p:spPr>
        <p:txBody>
          <a:bodyPr anchorCtr="0" anchor="t" bIns="206825" lIns="413650" spcFirstLastPara="1" rIns="413650" wrap="square" tIns="2068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3"/>
              <a:buFont typeface="Arial"/>
              <a:buNone/>
              <a:defRPr b="0" i="0" sz="595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234" y="8950"/>
            <a:ext cx="32407523" cy="3858539"/>
            <a:chOff x="-8234" y="8950"/>
            <a:chExt cx="32407523" cy="385853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-8234" y="8950"/>
              <a:ext cx="32407523" cy="3858539"/>
              <a:chOff x="-8234" y="8950"/>
              <a:chExt cx="32407523" cy="3858539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-8234" y="8950"/>
                <a:ext cx="32407523" cy="3858539"/>
              </a:xfrm>
              <a:custGeom>
                <a:rect b="b" l="l" r="r" t="t"/>
                <a:pathLst>
                  <a:path extrusionOk="0" h="1186" w="10246">
                    <a:moveTo>
                      <a:pt x="0" y="398"/>
                    </a:moveTo>
                    <a:lnTo>
                      <a:pt x="6507" y="398"/>
                    </a:lnTo>
                    <a:lnTo>
                      <a:pt x="6059" y="401"/>
                    </a:lnTo>
                    <a:lnTo>
                      <a:pt x="5855" y="406"/>
                    </a:lnTo>
                    <a:lnTo>
                      <a:pt x="5647" y="416"/>
                    </a:lnTo>
                    <a:lnTo>
                      <a:pt x="5131" y="450"/>
                    </a:lnTo>
                    <a:lnTo>
                      <a:pt x="4730" y="484"/>
                    </a:lnTo>
                    <a:lnTo>
                      <a:pt x="4333" y="525"/>
                    </a:lnTo>
                    <a:lnTo>
                      <a:pt x="4016" y="564"/>
                    </a:lnTo>
                    <a:lnTo>
                      <a:pt x="3700" y="608"/>
                    </a:lnTo>
                    <a:lnTo>
                      <a:pt x="3384" y="656"/>
                    </a:lnTo>
                    <a:lnTo>
                      <a:pt x="2986" y="725"/>
                    </a:lnTo>
                    <a:lnTo>
                      <a:pt x="2583" y="802"/>
                    </a:lnTo>
                    <a:lnTo>
                      <a:pt x="1820" y="963"/>
                    </a:lnTo>
                    <a:lnTo>
                      <a:pt x="1476" y="1028"/>
                    </a:lnTo>
                    <a:lnTo>
                      <a:pt x="1228" y="1071"/>
                    </a:lnTo>
                    <a:lnTo>
                      <a:pt x="990" y="1108"/>
                    </a:lnTo>
                    <a:lnTo>
                      <a:pt x="766" y="1139"/>
                    </a:lnTo>
                    <a:lnTo>
                      <a:pt x="625" y="1156"/>
                    </a:lnTo>
                    <a:lnTo>
                      <a:pt x="490" y="1171"/>
                    </a:lnTo>
                    <a:lnTo>
                      <a:pt x="364" y="1182"/>
                    </a:lnTo>
                    <a:lnTo>
                      <a:pt x="295" y="1185"/>
                    </a:lnTo>
                    <a:lnTo>
                      <a:pt x="210" y="1186"/>
                    </a:lnTo>
                    <a:lnTo>
                      <a:pt x="121" y="1185"/>
                    </a:lnTo>
                    <a:lnTo>
                      <a:pt x="43" y="1182"/>
                    </a:lnTo>
                    <a:lnTo>
                      <a:pt x="0" y="1178"/>
                    </a:lnTo>
                    <a:lnTo>
                      <a:pt x="0" y="398"/>
                    </a:lnTo>
                    <a:close/>
                    <a:moveTo>
                      <a:pt x="0" y="0"/>
                    </a:moveTo>
                    <a:lnTo>
                      <a:pt x="10245" y="0"/>
                    </a:lnTo>
                    <a:lnTo>
                      <a:pt x="10245" y="675"/>
                    </a:lnTo>
                    <a:lnTo>
                      <a:pt x="10227" y="675"/>
                    </a:lnTo>
                    <a:lnTo>
                      <a:pt x="10216" y="675"/>
                    </a:lnTo>
                    <a:lnTo>
                      <a:pt x="8014" y="460"/>
                    </a:lnTo>
                    <a:lnTo>
                      <a:pt x="7703" y="435"/>
                    </a:lnTo>
                    <a:lnTo>
                      <a:pt x="7494" y="421"/>
                    </a:lnTo>
                    <a:lnTo>
                      <a:pt x="7294" y="411"/>
                    </a:lnTo>
                    <a:lnTo>
                      <a:pt x="7096" y="404"/>
                    </a:lnTo>
                    <a:lnTo>
                      <a:pt x="6745" y="399"/>
                    </a:lnTo>
                    <a:lnTo>
                      <a:pt x="0" y="398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1">
                <a:blip r:embed="rId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3175" lIns="86375" spcFirstLastPara="1" rIns="86375" wrap="square" tIns="431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43"/>
                  <a:buFont typeface="Arial"/>
                  <a:buNone/>
                </a:pPr>
                <a:r>
                  <a:t/>
                </a:r>
                <a:endParaRPr b="0" i="0" sz="2143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pic>
            <p:nvPicPr>
              <p:cNvPr descr="Texto&#10;&#10;Descrição gerada automaticamente" id="14" name="Google Shape;14;p2"/>
              <p:cNvPicPr preferRelativeResize="0"/>
              <p:nvPr/>
            </p:nvPicPr>
            <p:blipFill rotWithShape="1">
              <a:blip r:embed="rId2">
                <a:alphaModFix/>
              </a:blip>
              <a:srcRect b="13116" l="9420" r="4844" t="9525"/>
              <a:stretch/>
            </p:blipFill>
            <p:spPr>
              <a:xfrm>
                <a:off x="69852" y="80957"/>
                <a:ext cx="5400600" cy="344630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Nova marca PIT SJC - Parque de Inovação Tecnológica São José dos Campos" id="15" name="Google Shape;15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744753" y="458820"/>
              <a:ext cx="7229797" cy="32862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/>
          <p:nvPr/>
        </p:nvSpPr>
        <p:spPr>
          <a:xfrm flipH="1" rot="10800000">
            <a:off x="-8584" y="42225052"/>
            <a:ext cx="32407522" cy="975286"/>
          </a:xfrm>
          <a:custGeom>
            <a:rect b="b" l="l" r="r" t="t"/>
            <a:pathLst>
              <a:path extrusionOk="0" h="1186" w="10246">
                <a:moveTo>
                  <a:pt x="0" y="398"/>
                </a:moveTo>
                <a:lnTo>
                  <a:pt x="6507" y="398"/>
                </a:lnTo>
                <a:lnTo>
                  <a:pt x="6059" y="401"/>
                </a:lnTo>
                <a:lnTo>
                  <a:pt x="5855" y="406"/>
                </a:lnTo>
                <a:lnTo>
                  <a:pt x="5647" y="416"/>
                </a:lnTo>
                <a:lnTo>
                  <a:pt x="5131" y="450"/>
                </a:lnTo>
                <a:lnTo>
                  <a:pt x="4730" y="484"/>
                </a:lnTo>
                <a:lnTo>
                  <a:pt x="4333" y="525"/>
                </a:lnTo>
                <a:lnTo>
                  <a:pt x="4016" y="564"/>
                </a:lnTo>
                <a:lnTo>
                  <a:pt x="3700" y="608"/>
                </a:lnTo>
                <a:lnTo>
                  <a:pt x="3384" y="656"/>
                </a:lnTo>
                <a:lnTo>
                  <a:pt x="2986" y="725"/>
                </a:lnTo>
                <a:lnTo>
                  <a:pt x="2583" y="802"/>
                </a:lnTo>
                <a:lnTo>
                  <a:pt x="1820" y="963"/>
                </a:lnTo>
                <a:lnTo>
                  <a:pt x="1476" y="1028"/>
                </a:lnTo>
                <a:lnTo>
                  <a:pt x="1228" y="1071"/>
                </a:lnTo>
                <a:lnTo>
                  <a:pt x="990" y="1108"/>
                </a:lnTo>
                <a:lnTo>
                  <a:pt x="766" y="1139"/>
                </a:lnTo>
                <a:lnTo>
                  <a:pt x="625" y="1156"/>
                </a:lnTo>
                <a:lnTo>
                  <a:pt x="490" y="1171"/>
                </a:lnTo>
                <a:lnTo>
                  <a:pt x="364" y="1182"/>
                </a:lnTo>
                <a:lnTo>
                  <a:pt x="295" y="1185"/>
                </a:lnTo>
                <a:lnTo>
                  <a:pt x="210" y="1186"/>
                </a:lnTo>
                <a:lnTo>
                  <a:pt x="121" y="1185"/>
                </a:lnTo>
                <a:lnTo>
                  <a:pt x="43" y="1182"/>
                </a:lnTo>
                <a:lnTo>
                  <a:pt x="0" y="1178"/>
                </a:lnTo>
                <a:lnTo>
                  <a:pt x="0" y="398"/>
                </a:lnTo>
                <a:close/>
                <a:moveTo>
                  <a:pt x="0" y="0"/>
                </a:moveTo>
                <a:lnTo>
                  <a:pt x="10245" y="0"/>
                </a:lnTo>
                <a:lnTo>
                  <a:pt x="10245" y="675"/>
                </a:lnTo>
                <a:lnTo>
                  <a:pt x="10227" y="675"/>
                </a:lnTo>
                <a:lnTo>
                  <a:pt x="10216" y="675"/>
                </a:lnTo>
                <a:lnTo>
                  <a:pt x="8014" y="460"/>
                </a:lnTo>
                <a:lnTo>
                  <a:pt x="7703" y="435"/>
                </a:lnTo>
                <a:lnTo>
                  <a:pt x="7494" y="421"/>
                </a:lnTo>
                <a:lnTo>
                  <a:pt x="7294" y="411"/>
                </a:lnTo>
                <a:lnTo>
                  <a:pt x="7096" y="404"/>
                </a:lnTo>
                <a:lnTo>
                  <a:pt x="6745" y="399"/>
                </a:lnTo>
                <a:lnTo>
                  <a:pt x="0" y="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3175" lIns="86375" spcFirstLastPara="1" rIns="86375" wrap="square" tIns="431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3"/>
              <a:buFont typeface="Arial"/>
              <a:buNone/>
            </a:pPr>
            <a:r>
              <a:t/>
            </a:r>
            <a:endParaRPr b="0" i="0" sz="214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"/>
          <p:cNvSpPr txBox="1"/>
          <p:nvPr/>
        </p:nvSpPr>
        <p:spPr>
          <a:xfrm>
            <a:off x="953767" y="37287106"/>
            <a:ext cx="142794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50" lIns="96525" spcFirstLastPara="1" rIns="96525" wrap="square" tIns="48250">
            <a:spAutoFit/>
          </a:bodyPr>
          <a:lstStyle/>
          <a:p>
            <a:pPr indent="-4826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pt-BR" sz="4000">
                <a:solidFill>
                  <a:schemeClr val="dk1"/>
                </a:solidFill>
              </a:rPr>
              <a:t>O processo manual vigente (</a:t>
            </a:r>
            <a:r>
              <a:rPr b="1" lang="pt-BR" sz="4000">
                <a:solidFill>
                  <a:schemeClr val="dk1"/>
                </a:solidFill>
              </a:rPr>
              <a:t>AS-IS</a:t>
            </a:r>
            <a:r>
              <a:rPr lang="pt-BR" sz="4000">
                <a:solidFill>
                  <a:schemeClr val="dk1"/>
                </a:solidFill>
              </a:rPr>
              <a:t>) apresenta ausência de critério padronizado de classificação, dependência do julgamento individual do colaborador e ausência de trilha de auditoria sistemática fatores que aumentam o risco de vazamento de dados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1191475" y="3945350"/>
            <a:ext cx="30633900" cy="4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75" spcFirstLastPara="1" rIns="431975" wrap="square" tIns="2159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6800"/>
              <a:buFont typeface="Calibri"/>
              <a:buNone/>
            </a:pPr>
            <a:r>
              <a:rPr b="1" i="0" lang="pt-BR" sz="6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INTELIGÊNCIA ARTIFICIAL NA GOVERNANÇA DE DADOS: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</a:pPr>
            <a:r>
              <a:rPr b="1" i="0" lang="pt-BR" sz="6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CLASSIFICAÇÃO AUTOMATIZADA E MITIGAÇÃO DE RISCOS EM AMBIENTES FINANCEIROS</a:t>
            </a:r>
            <a:br>
              <a:rPr b="1" i="0" lang="pt-BR" sz="77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Gabriela Nogueira Freire, Jade Prado Alves, Matheus Avolio Sedel, Otavio Joaquim Fernandes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pt-BR" sz="3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Centro Universitário Senac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953767" y="8801072"/>
            <a:ext cx="14574745" cy="12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53767" y="24448342"/>
            <a:ext cx="14336700" cy="12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16588526" y="34635119"/>
            <a:ext cx="14307299" cy="12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977581" y="9936000"/>
            <a:ext cx="14601294" cy="81919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50" lIns="96525" spcFirstLastPara="1" rIns="96525" wrap="square" tIns="4825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transformação digital intensificou os riscos de exposição de dados sensíveis no setor financeiro, pesquisas apontam que 20% das organizações usavam IA em 2017 e 55% utilizavam em 2023.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LGPD prevê sanções de até R$ 50 milhões por infração. Nesse contexto, a IA emerge como mecanismo de controle para classificar dados em trânsito e fortalecer a conformidade regulatória. 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16508425" y="35820363"/>
            <a:ext cx="14307298" cy="77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50" spcFirstLastPara="1" rIns="82050" wrap="square" tIns="410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CARDOSO, J. D. IA Generativa em ambientes corporativos: análise dos riscos de segurança e governança. UFU, 2025.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GAYDUTSCHENKO, I. Vazamentos de dados: uma análise a partir da LGPD e das políticas de compliance. Mackenzie, 2022.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ONU. Transformando nosso mundo: a Agenda 2030 para o Desenvolvimento Sustentável. Nova York: ONU, 2015.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953767" y="31182754"/>
            <a:ext cx="14336700" cy="12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 PESQUISA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896612" y="32516946"/>
            <a:ext cx="14342701" cy="3175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50" lIns="96525" spcFirstLastPara="1" rIns="96525" wrap="square" tIns="4825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Esta pesquisa é exploratória com abordagem qualitativa, desenvolvida por meio de revisão bibliográfica e análise documental da LGPD e da ISO/IEC 27001:2022. </a:t>
            </a:r>
            <a:endParaRPr b="0" i="0" sz="40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16588526" y="28479118"/>
            <a:ext cx="14381699" cy="12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CONSIDERAÇÕES FINAIS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16564827" y="29511498"/>
            <a:ext cx="14330998" cy="5021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50" lIns="96525" spcFirstLastPara="1" rIns="96525" wrap="square" tIns="4825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 modelo demonstrou viabilidade técnica e normativa, integrando IA, LGPD e ISO/IEC 27001:2022. A principal limitação é a ausência de validação empírica. Estudos futuros devem testar protótipos com corpus regulatório brasileiro e explorar IA explicável (XAI).</a:t>
            </a:r>
            <a:endParaRPr b="0" i="0" sz="40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, nome da empresa&#10;&#10;O conteúdo gerado por IA pode estar incorreto." id="42" name="Google Shape;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3565" y="938585"/>
            <a:ext cx="4817236" cy="285158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"/>
          <p:cNvSpPr txBox="1"/>
          <p:nvPr/>
        </p:nvSpPr>
        <p:spPr>
          <a:xfrm>
            <a:off x="13096567" y="1388423"/>
            <a:ext cx="17719156" cy="195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8049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A"/>
              </a:buClr>
              <a:buSzPts val="7000"/>
              <a:buFont typeface="Arial"/>
              <a:buNone/>
            </a:pPr>
            <a:r>
              <a:rPr b="1" i="0" lang="pt-BR" sz="7000" u="none" cap="none" strike="noStrike">
                <a:solidFill>
                  <a:srgbClr val="E36C0A"/>
                </a:solidFill>
                <a:latin typeface="Arial"/>
                <a:ea typeface="Arial"/>
                <a:cs typeface="Arial"/>
                <a:sym typeface="Arial"/>
              </a:rPr>
              <a:t>Gestão de Tecnologia da Informação</a:t>
            </a:r>
            <a:endParaRPr b="0" i="0" sz="7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723130" lvl="0" marL="6072505" marR="0" rtl="0" algn="r">
              <a:lnSpc>
                <a:spcPct val="105000"/>
              </a:lnSpc>
              <a:spcBef>
                <a:spcPts val="12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pt-BR" sz="3800" u="none" cap="none" strike="noStrike">
                <a:solidFill>
                  <a:srgbClr val="262699"/>
                </a:solidFill>
                <a:latin typeface="Calibri"/>
                <a:ea typeface="Calibri"/>
                <a:cs typeface="Calibri"/>
                <a:sym typeface="Calibri"/>
              </a:rPr>
              <a:t>VI Mostra de Projetos Integradores e Práticas Extensionistas</a:t>
            </a:r>
            <a:endParaRPr b="1" i="0" sz="3800" u="none" cap="none" strike="noStrike">
              <a:solidFill>
                <a:srgbClr val="262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953767" y="17935559"/>
            <a:ext cx="14574745" cy="127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896612" y="36013606"/>
            <a:ext cx="14336700" cy="127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5440141" y="19178331"/>
            <a:ext cx="10088371" cy="53865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50" lIns="96525" spcFirstLastPara="1" rIns="96525" wrap="square" tIns="4825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Calibri"/>
              <a:buNone/>
            </a:pPr>
            <a:r>
              <a:rPr b="0" i="0" lang="pt-BR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 uso responsável da IA e a Governança de Dados contribuem para infraestruturas digitais seguras e resilientes no setor financeiro, alinhando-se à Agenda 2030 da ONU.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t/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651110" y="18992313"/>
            <a:ext cx="2920800" cy="32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400" lIns="116800" spcFirstLastPara="1" rIns="116800" wrap="square" tIns="58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11"/>
              <a:buFont typeface="Calibri"/>
              <a:buNone/>
            </a:pPr>
            <a:r>
              <a:rPr b="0" i="0" lang="pt-BR" sz="281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=ODS</a:t>
            </a:r>
            <a:endParaRPr b="0" i="0" sz="28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44"/>
              <a:buFont typeface="Calibri"/>
              <a:buNone/>
            </a:pPr>
            <a:r>
              <a:rPr b="1" i="0" lang="pt-BR" sz="66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281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96612" y="26074828"/>
            <a:ext cx="14336700" cy="447636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alibri"/>
              <a:buNone/>
            </a:pPr>
            <a:r>
              <a:rPr b="0" i="0" lang="pt-BR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Propor um modelo conceitual de classificação automatizada de dados com Inteligência Artificial para apoiar mecanismos de Governança de Dados e mitigação de riscos em ambientes corporativos financeiros, em conformidade com a LGPD e a ABNT NBR ISO/IEC 27001:2022.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6585676" y="25687709"/>
            <a:ext cx="14387400" cy="2609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16585676" y="25633666"/>
            <a:ext cx="14307300" cy="26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3800" wrap="square" tIns="38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↓ 40%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5D5EA"/>
              </a:buClr>
              <a:buSzPts val="2400"/>
              <a:buFont typeface="Calibri"/>
              <a:buNone/>
            </a:pPr>
            <a:r>
              <a:rPr b="0" i="0" lang="pt-BR" sz="4000" u="none" cap="none" strike="noStrike">
                <a:solidFill>
                  <a:srgbClr val="C5D5EA"/>
                </a:solidFill>
                <a:latin typeface="Arial"/>
                <a:ea typeface="Arial"/>
                <a:cs typeface="Arial"/>
                <a:sym typeface="Arial"/>
              </a:rPr>
              <a:t>redução na carga de trabalho manual de conformidade em pilotos com instituições financeiras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6585675" y="8801075"/>
            <a:ext cx="14387400" cy="131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50" lIns="96525" spcFirstLastPara="1" rIns="96525" wrap="square" tIns="48250">
            <a:spAutoFit/>
          </a:bodyPr>
          <a:lstStyle/>
          <a:p>
            <a:pPr indent="-4826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pt-BR" sz="4000">
                <a:solidFill>
                  <a:schemeClr val="dk1"/>
                </a:solidFill>
              </a:rPr>
              <a:t>Modelos de IA baseados em Processamento de Linguagem Natural (PLN) são capazes de classificar dados regulatórios com </a:t>
            </a:r>
            <a:r>
              <a:rPr b="1" lang="pt-BR" sz="4000">
                <a:solidFill>
                  <a:schemeClr val="dk1"/>
                </a:solidFill>
              </a:rPr>
              <a:t>precisão superior a 90%</a:t>
            </a:r>
            <a:r>
              <a:rPr lang="pt-BR" sz="4000">
                <a:solidFill>
                  <a:schemeClr val="dk1"/>
                </a:solidFill>
              </a:rPr>
              <a:t>, superando significativamente os processos manuais</a:t>
            </a:r>
            <a:endParaRPr sz="4000">
              <a:solidFill>
                <a:schemeClr val="dk1"/>
              </a:solidFill>
            </a:endParaRPr>
          </a:p>
          <a:p>
            <a:pPr indent="-482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pt-BR" sz="4000">
                <a:solidFill>
                  <a:schemeClr val="dk1"/>
                </a:solidFill>
              </a:rPr>
              <a:t>O modelo </a:t>
            </a:r>
            <a:r>
              <a:rPr b="1" lang="pt-BR" sz="4000">
                <a:solidFill>
                  <a:schemeClr val="dk1"/>
                </a:solidFill>
              </a:rPr>
              <a:t>Legal-BERT+NER</a:t>
            </a:r>
            <a:r>
              <a:rPr lang="pt-BR" sz="4000">
                <a:solidFill>
                  <a:schemeClr val="dk1"/>
                </a:solidFill>
              </a:rPr>
              <a:t> obteve os melhores resultados, com 93,1% de precisão e 90,8% de acurácia de conformidade</a:t>
            </a:r>
            <a:endParaRPr sz="4000">
              <a:solidFill>
                <a:schemeClr val="dk1"/>
              </a:solidFill>
            </a:endParaRPr>
          </a:p>
          <a:p>
            <a:pPr indent="-482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pt-BR" sz="4000">
                <a:solidFill>
                  <a:schemeClr val="dk1"/>
                </a:solidFill>
              </a:rPr>
              <a:t>Com base nesses achados, foi proposto o </a:t>
            </a:r>
            <a:r>
              <a:rPr b="1" lang="pt-BR" sz="4000">
                <a:solidFill>
                  <a:schemeClr val="dk1"/>
                </a:solidFill>
              </a:rPr>
              <a:t>Modelo Conceitual TO-BE</a:t>
            </a:r>
            <a:r>
              <a:rPr lang="pt-BR" sz="4000">
                <a:solidFill>
                  <a:schemeClr val="dk1"/>
                </a:solidFill>
              </a:rPr>
              <a:t>, estruturado em quatro camadas interdependentes integradas à LGPD e à ISO/IEC 27001:2022: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767" y="19525092"/>
            <a:ext cx="4248329" cy="424832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/>
          <p:nvPr/>
        </p:nvSpPr>
        <p:spPr>
          <a:xfrm>
            <a:off x="18447318" y="24860740"/>
            <a:ext cx="1042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Quadro 1. Fonte: Autores do Projeto 2026</a:t>
            </a:r>
            <a:endParaRPr/>
          </a:p>
        </p:txBody>
      </p:sp>
      <p:pic>
        <p:nvPicPr>
          <p:cNvPr id="54" name="Google Shape;5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633525" y="18874928"/>
            <a:ext cx="14336701" cy="5993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2003-07-10T12:16:33Z</dcterms:created>
  <dc:creator>.</dc:creator>
</cp:coreProperties>
</file>